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2" r:id="rId5"/>
    <p:sldId id="260" r:id="rId6"/>
    <p:sldId id="263" r:id="rId7"/>
  </p:sldIdLst>
  <p:sldSz cx="9144000" cy="6858000" type="screen4x3"/>
  <p:notesSz cx="6954838" cy="9240838"/>
  <p:embeddedFontLst>
    <p:embeddedFont>
      <p:font typeface="Poppins" pitchFamily="2" charset="77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162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gGY5WWpfG1igEjhA1e7W6t94nT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6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9D4CEC-4278-451B-9439-77C31D72A5FC}">
  <a:tblStyle styleId="{DD9D4CEC-4278-451B-9439-77C31D72A5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833"/>
  </p:normalViewPr>
  <p:slideViewPr>
    <p:cSldViewPr snapToGrid="0">
      <p:cViewPr varScale="1">
        <p:scale>
          <a:sx n="125" d="100"/>
          <a:sy n="125" d="100"/>
        </p:scale>
        <p:origin x="1432" y="176"/>
      </p:cViewPr>
      <p:guideLst>
        <p:guide orient="horz" pos="2880"/>
        <p:guide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49" Type="http://schemas.microsoft.com/office/2016/11/relationships/changesInfo" Target="changesInfos/changesInfo1.xml"/><Relationship Id="rId10" Type="http://schemas.openxmlformats.org/officeDocument/2006/relationships/font" Target="fonts/font2.fntdata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4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ah, Faris" userId="3c16d64e-af8d-4b2b-bbca-a819e4225f4a" providerId="ADAL" clId="{4668BC96-C6C5-47F5-97D3-E70F6DCAA540}"/>
    <pc:docChg chg="modSld">
      <pc:chgData name="Saah, Faris" userId="3c16d64e-af8d-4b2b-bbca-a819e4225f4a" providerId="ADAL" clId="{4668BC96-C6C5-47F5-97D3-E70F6DCAA540}" dt="2022-09-11T21:11:20.244" v="5" actId="1038"/>
      <pc:docMkLst>
        <pc:docMk/>
      </pc:docMkLst>
      <pc:sldChg chg="modSp mod">
        <pc:chgData name="Saah, Faris" userId="3c16d64e-af8d-4b2b-bbca-a819e4225f4a" providerId="ADAL" clId="{4668BC96-C6C5-47F5-97D3-E70F6DCAA540}" dt="2022-09-11T21:11:20.244" v="5" actId="1038"/>
        <pc:sldMkLst>
          <pc:docMk/>
          <pc:sldMk cId="0" sldId="256"/>
        </pc:sldMkLst>
        <pc:spChg chg="mod">
          <ac:chgData name="Saah, Faris" userId="3c16d64e-af8d-4b2b-bbca-a819e4225f4a" providerId="ADAL" clId="{4668BC96-C6C5-47F5-97D3-E70F6DCAA540}" dt="2022-09-11T21:11:20.244" v="5" actId="1038"/>
          <ac:spMkLst>
            <pc:docMk/>
            <pc:sldMk cId="0" sldId="256"/>
            <ac:spMk id="26" creationId="{00000000-0000-0000-0000-000000000000}"/>
          </ac:spMkLst>
        </pc:spChg>
      </pc:sldChg>
    </pc:docChg>
  </pc:docChgLst>
  <pc:docChgLst>
    <pc:chgData name="Saah, Faris" userId="3c16d64e-af8d-4b2b-bbca-a819e4225f4a" providerId="ADAL" clId="{35863C8F-2425-4B9C-BAAF-20984771A85A}"/>
    <pc:docChg chg="custSel modSld">
      <pc:chgData name="Saah, Faris" userId="3c16d64e-af8d-4b2b-bbca-a819e4225f4a" providerId="ADAL" clId="{35863C8F-2425-4B9C-BAAF-20984771A85A}" dt="2022-09-14T18:18:48.932" v="35" actId="6549"/>
      <pc:docMkLst>
        <pc:docMk/>
      </pc:docMkLst>
      <pc:sldChg chg="modSp mod">
        <pc:chgData name="Saah, Faris" userId="3c16d64e-af8d-4b2b-bbca-a819e4225f4a" providerId="ADAL" clId="{35863C8F-2425-4B9C-BAAF-20984771A85A}" dt="2022-09-14T18:18:48.932" v="35" actId="6549"/>
        <pc:sldMkLst>
          <pc:docMk/>
          <pc:sldMk cId="0" sldId="256"/>
        </pc:sldMkLst>
        <pc:spChg chg="mod">
          <ac:chgData name="Saah, Faris" userId="3c16d64e-af8d-4b2b-bbca-a819e4225f4a" providerId="ADAL" clId="{35863C8F-2425-4B9C-BAAF-20984771A85A}" dt="2022-09-14T18:18:22.546" v="11" actId="14100"/>
          <ac:spMkLst>
            <pc:docMk/>
            <pc:sldMk cId="0" sldId="256"/>
            <ac:spMk id="26" creationId="{00000000-0000-0000-0000-000000000000}"/>
          </ac:spMkLst>
        </pc:spChg>
        <pc:spChg chg="mod">
          <ac:chgData name="Saah, Faris" userId="3c16d64e-af8d-4b2b-bbca-a819e4225f4a" providerId="ADAL" clId="{35863C8F-2425-4B9C-BAAF-20984771A85A}" dt="2022-09-14T18:18:48.932" v="35" actId="6549"/>
          <ac:spMkLst>
            <pc:docMk/>
            <pc:sldMk cId="0" sldId="256"/>
            <ac:spMk id="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3013763" cy="464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525" tIns="43750" rIns="87525" bIns="437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39264" y="1"/>
            <a:ext cx="3013763" cy="464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525" tIns="43750" rIns="87525" bIns="4375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400175" y="1155700"/>
            <a:ext cx="4154488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5484" y="4447158"/>
            <a:ext cx="5563870" cy="36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525" tIns="43750" rIns="87525" bIns="4375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776660"/>
            <a:ext cx="3013763" cy="464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525" tIns="43750" rIns="87525" bIns="437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39264" y="8776660"/>
            <a:ext cx="3013763" cy="464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525" tIns="43750" rIns="87525" bIns="437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00175" y="1155700"/>
            <a:ext cx="4154488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1:notes"/>
          <p:cNvSpPr txBox="1">
            <a:spLocks noGrp="1"/>
          </p:cNvSpPr>
          <p:nvPr>
            <p:ph type="body" idx="1"/>
          </p:nvPr>
        </p:nvSpPr>
        <p:spPr>
          <a:xfrm>
            <a:off x="695484" y="4447158"/>
            <a:ext cx="5563870" cy="36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525" tIns="43750" rIns="87525" bIns="437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" name="Google Shape;24;p1:notes"/>
          <p:cNvSpPr txBox="1">
            <a:spLocks noGrp="1"/>
          </p:cNvSpPr>
          <p:nvPr>
            <p:ph type="sldNum" idx="12"/>
          </p:nvPr>
        </p:nvSpPr>
        <p:spPr>
          <a:xfrm>
            <a:off x="3939264" y="8776660"/>
            <a:ext cx="3013763" cy="464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525" tIns="43750" rIns="87525" bIns="437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3ce227f1d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17563" y="1539875"/>
            <a:ext cx="5545138" cy="4160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g13ce227f1db_0_25:notes"/>
          <p:cNvSpPr txBox="1">
            <a:spLocks noGrp="1"/>
          </p:cNvSpPr>
          <p:nvPr>
            <p:ph type="body" idx="1"/>
          </p:nvPr>
        </p:nvSpPr>
        <p:spPr>
          <a:xfrm>
            <a:off x="391210" y="5929529"/>
            <a:ext cx="3129900" cy="4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25" tIns="44050" rIns="88125" bIns="4405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723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g13ce227f1db_0_25:notes"/>
          <p:cNvSpPr txBox="1">
            <a:spLocks noGrp="1"/>
          </p:cNvSpPr>
          <p:nvPr>
            <p:ph type="sldNum" idx="12"/>
          </p:nvPr>
        </p:nvSpPr>
        <p:spPr>
          <a:xfrm>
            <a:off x="2215946" y="11702910"/>
            <a:ext cx="16953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25" tIns="44050" rIns="88125" bIns="440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3ce227f1d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17563" y="1539875"/>
            <a:ext cx="5545138" cy="41608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g13ce227f1db_0_12:notes"/>
          <p:cNvSpPr txBox="1">
            <a:spLocks noGrp="1"/>
          </p:cNvSpPr>
          <p:nvPr>
            <p:ph type="body" idx="1"/>
          </p:nvPr>
        </p:nvSpPr>
        <p:spPr>
          <a:xfrm>
            <a:off x="391210" y="5929529"/>
            <a:ext cx="3129900" cy="4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25" tIns="44050" rIns="88125" bIns="4405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723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g13ce227f1db_0_12:notes"/>
          <p:cNvSpPr txBox="1">
            <a:spLocks noGrp="1"/>
          </p:cNvSpPr>
          <p:nvPr>
            <p:ph type="sldNum" idx="12"/>
          </p:nvPr>
        </p:nvSpPr>
        <p:spPr>
          <a:xfrm>
            <a:off x="2215946" y="11702910"/>
            <a:ext cx="16953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25" tIns="44050" rIns="88125" bIns="440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 txBox="1">
            <a:spLocks noGrp="1"/>
          </p:cNvSpPr>
          <p:nvPr>
            <p:ph type="body" idx="1"/>
          </p:nvPr>
        </p:nvSpPr>
        <p:spPr>
          <a:xfrm>
            <a:off x="695484" y="4447158"/>
            <a:ext cx="5563870" cy="36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525" tIns="43750" rIns="87525" bIns="437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00175" y="1155700"/>
            <a:ext cx="4154488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26338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2946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 txBox="1">
            <a:spLocks noGrp="1"/>
          </p:cNvSpPr>
          <p:nvPr>
            <p:ph type="title"/>
          </p:nvPr>
        </p:nvSpPr>
        <p:spPr>
          <a:xfrm>
            <a:off x="404155" y="457566"/>
            <a:ext cx="83356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8596516" y="6477000"/>
            <a:ext cx="163353" cy="124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8575" marR="0" lvl="0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8575" marR="0" lvl="1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8575" marR="0" lvl="2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8575" marR="0" lvl="3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575" marR="0" lvl="4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8575" marR="0" lvl="5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8575" marR="0" lvl="6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8575" marR="0" lvl="7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8575" marR="0" lvl="8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>
            <a:spLocks noGrp="1"/>
          </p:cNvSpPr>
          <p:nvPr>
            <p:ph type="title"/>
          </p:nvPr>
        </p:nvSpPr>
        <p:spPr>
          <a:xfrm>
            <a:off x="404155" y="457566"/>
            <a:ext cx="83356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body" idx="1"/>
          </p:nvPr>
        </p:nvSpPr>
        <p:spPr>
          <a:xfrm>
            <a:off x="409379" y="1162781"/>
            <a:ext cx="833568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596516" y="6477000"/>
            <a:ext cx="163353" cy="124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8575" marR="0" lvl="0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8575" marR="0" lvl="1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8575" marR="0" lvl="2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8575" marR="0" lvl="3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575" marR="0" lvl="4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8575" marR="0" lvl="5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8575" marR="0" lvl="6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8575" marR="0" lvl="7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8575" marR="0" lvl="8" indent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/>
          <p:nvPr/>
        </p:nvSpPr>
        <p:spPr>
          <a:xfrm>
            <a:off x="1" y="1"/>
            <a:ext cx="9143981" cy="8321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208763" y="1162781"/>
            <a:ext cx="853630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sldNum" idx="12"/>
          </p:nvPr>
        </p:nvSpPr>
        <p:spPr>
          <a:xfrm>
            <a:off x="8596516" y="6477000"/>
            <a:ext cx="163353" cy="124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8575" marR="0" lvl="0" indent="0" algn="l" rtl="0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8575" marR="0" lvl="1" indent="0" algn="l" rtl="0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8575" marR="0" lvl="2" indent="0" algn="l" rtl="0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8575" marR="0" lvl="3" indent="0" algn="l" rtl="0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575" marR="0" lvl="4" indent="0" algn="l" rtl="0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8575" marR="0" lvl="5" indent="0" algn="l" rtl="0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8575" marR="0" lvl="6" indent="0" algn="l" rtl="0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8575" marR="0" lvl="7" indent="0" algn="l" rtl="0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8575" marR="0" lvl="8" indent="0" algn="l" rtl="0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  <a:defRPr sz="825" b="0" i="0" u="none" strike="noStrike" cap="none">
                <a:solidFill>
                  <a:srgbClr val="4490B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20"/>
          <p:cNvSpPr/>
          <p:nvPr/>
        </p:nvSpPr>
        <p:spPr>
          <a:xfrm>
            <a:off x="7910345" y="223118"/>
            <a:ext cx="1157455" cy="43006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/>
          <p:nvPr/>
        </p:nvSpPr>
        <p:spPr>
          <a:xfrm>
            <a:off x="-10168" y="-7620"/>
            <a:ext cx="9161542" cy="686562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1975" y="6857986"/>
                </a:moveTo>
                <a:lnTo>
                  <a:pt x="0" y="6857986"/>
                </a:lnTo>
                <a:lnTo>
                  <a:pt x="0" y="0"/>
                </a:lnTo>
                <a:lnTo>
                  <a:pt x="12191975" y="0"/>
                </a:lnTo>
                <a:lnTo>
                  <a:pt x="12191975" y="6857986"/>
                </a:lnTo>
                <a:close/>
              </a:path>
            </a:pathLst>
          </a:custGeom>
          <a:solidFill>
            <a:srgbClr val="3F649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102839" y="4576036"/>
            <a:ext cx="3042612" cy="228196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>
            <a:spLocks noGrp="1"/>
          </p:cNvSpPr>
          <p:nvPr>
            <p:ph type="title"/>
          </p:nvPr>
        </p:nvSpPr>
        <p:spPr>
          <a:xfrm>
            <a:off x="600300" y="3026613"/>
            <a:ext cx="8379928" cy="748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95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Red Unicorn</a:t>
            </a:r>
            <a:br>
              <a:rPr lang="en-US" sz="2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September 2022</a:t>
            </a:r>
            <a:endParaRPr sz="28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07075" y="327113"/>
            <a:ext cx="2415195" cy="89738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2849813" y="355508"/>
            <a:ext cx="59064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95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Credit</a:t>
            </a:r>
            <a:endParaRPr sz="3600" b="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2686539" y="543705"/>
            <a:ext cx="0" cy="500269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3ce227f1db_0_25"/>
          <p:cNvSpPr txBox="1">
            <a:spLocks noGrp="1"/>
          </p:cNvSpPr>
          <p:nvPr>
            <p:ph type="title"/>
          </p:nvPr>
        </p:nvSpPr>
        <p:spPr>
          <a:xfrm>
            <a:off x="129448" y="321267"/>
            <a:ext cx="83358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9525" lvl="0" indent="0" algn="l" rtl="0">
              <a:spcBef>
                <a:spcPts val="75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Company Overview</a:t>
            </a:r>
            <a:endParaRPr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" name="Google Shape;66;g13ce227f1db_0_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68313" y="6474832"/>
            <a:ext cx="175719" cy="17571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13ce227f1db_0_25"/>
          <p:cNvSpPr txBox="1"/>
          <p:nvPr/>
        </p:nvSpPr>
        <p:spPr>
          <a:xfrm>
            <a:off x="8612417" y="6510939"/>
            <a:ext cx="397800" cy="1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0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2</a:t>
            </a:fld>
            <a:endParaRPr sz="1000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49338C-A643-FF6C-500E-64FF715C93FE}"/>
              </a:ext>
            </a:extLst>
          </p:cNvPr>
          <p:cNvSpPr txBox="1"/>
          <p:nvPr/>
        </p:nvSpPr>
        <p:spPr>
          <a:xfrm>
            <a:off x="129448" y="1158832"/>
            <a:ext cx="30380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600">
                <a:solidFill>
                  <a:srgbClr val="4D699C"/>
                </a:solidFill>
              </a:defRPr>
            </a:lvl1pPr>
          </a:lstStyle>
          <a:p>
            <a:r>
              <a:rPr lang="en-US" sz="1400" b="1" dirty="0">
                <a:solidFill>
                  <a:schemeClr val="bg2">
                    <a:lumMod val="75000"/>
                  </a:schemeClr>
                </a:solidFill>
              </a:rPr>
              <a:t>Red Unicorn Company Snapshot: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CC9B5B-3FA7-10E7-9476-A6345604F248}"/>
              </a:ext>
            </a:extLst>
          </p:cNvPr>
          <p:cNvSpPr txBox="1"/>
          <p:nvPr/>
        </p:nvSpPr>
        <p:spPr>
          <a:xfrm>
            <a:off x="129448" y="1541639"/>
            <a:ext cx="3225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Largest hospice platform in the US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 as measured by patients on census and one of the largest providers of home-based community and personal care services: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Headquarters: Atlanta, GA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Employees: ~29k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630F2F2-38ED-A3E3-8FE2-070002CC5A4B}"/>
              </a:ext>
            </a:extLst>
          </p:cNvPr>
          <p:cNvCxnSpPr>
            <a:cxnSpLocks/>
          </p:cNvCxnSpPr>
          <p:nvPr/>
        </p:nvCxnSpPr>
        <p:spPr>
          <a:xfrm flipH="1">
            <a:off x="187523" y="2773219"/>
            <a:ext cx="297972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8C556E2-2BCC-180C-8A08-F51D246C3247}"/>
              </a:ext>
            </a:extLst>
          </p:cNvPr>
          <p:cNvSpPr/>
          <p:nvPr/>
        </p:nvSpPr>
        <p:spPr>
          <a:xfrm>
            <a:off x="3413403" y="1618751"/>
            <a:ext cx="1737692" cy="10744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369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/>
              <a:t>hospice locations across 35 states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55836F-7A7A-BD2F-DACE-C355B097913F}"/>
              </a:ext>
            </a:extLst>
          </p:cNvPr>
          <p:cNvSpPr/>
          <p:nvPr/>
        </p:nvSpPr>
        <p:spPr>
          <a:xfrm>
            <a:off x="7246313" y="1618751"/>
            <a:ext cx="1737692" cy="10744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8k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/>
              <a:t>hospice caregivers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40977E-D87F-1D68-3C62-1EF373AB94B7}"/>
              </a:ext>
            </a:extLst>
          </p:cNvPr>
          <p:cNvSpPr/>
          <p:nvPr/>
        </p:nvSpPr>
        <p:spPr>
          <a:xfrm>
            <a:off x="5329858" y="1618751"/>
            <a:ext cx="1737692" cy="10744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~24K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/>
              <a:t>hospice patients on daily census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EB501D-794B-CEC7-CE88-7B7D82926C74}"/>
              </a:ext>
            </a:extLst>
          </p:cNvPr>
          <p:cNvSpPr/>
          <p:nvPr/>
        </p:nvSpPr>
        <p:spPr>
          <a:xfrm>
            <a:off x="3413403" y="2835945"/>
            <a:ext cx="1737692" cy="10744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99.1%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/>
              <a:t>HIS score*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56E92B-1BE0-B0D9-3E37-E25694EB9819}"/>
              </a:ext>
            </a:extLst>
          </p:cNvPr>
          <p:cNvSpPr/>
          <p:nvPr/>
        </p:nvSpPr>
        <p:spPr>
          <a:xfrm>
            <a:off x="7246313" y="2835945"/>
            <a:ext cx="1737692" cy="10744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~17k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/>
              <a:t>personal care clients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2BCC19-626F-493D-BF6B-CF794EDD8137}"/>
              </a:ext>
            </a:extLst>
          </p:cNvPr>
          <p:cNvSpPr/>
          <p:nvPr/>
        </p:nvSpPr>
        <p:spPr>
          <a:xfrm>
            <a:off x="5329858" y="2835945"/>
            <a:ext cx="1737692" cy="10744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80.7%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/>
              <a:t>CAHPS score**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CB38B5-2FB6-AC1C-2B56-F0FAE9D5B559}"/>
              </a:ext>
            </a:extLst>
          </p:cNvPr>
          <p:cNvSpPr/>
          <p:nvPr/>
        </p:nvSpPr>
        <p:spPr>
          <a:xfrm>
            <a:off x="3413403" y="1196199"/>
            <a:ext cx="5570602" cy="276999"/>
          </a:xfrm>
          <a:prstGeom prst="rect">
            <a:avLst/>
          </a:prstGeom>
          <a:solidFill>
            <a:srgbClr val="4D69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KAH Hospice by the Numbers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CCFB70-1470-E71A-0651-032C4A3400CE}"/>
              </a:ext>
            </a:extLst>
          </p:cNvPr>
          <p:cNvSpPr/>
          <p:nvPr/>
        </p:nvSpPr>
        <p:spPr>
          <a:xfrm>
            <a:off x="3413403" y="4057675"/>
            <a:ext cx="5570602" cy="276999"/>
          </a:xfrm>
          <a:prstGeom prst="rect">
            <a:avLst/>
          </a:prstGeom>
          <a:solidFill>
            <a:srgbClr val="4D69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Key Financials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C6B9C2-9074-4899-BD00-B67EC8C8E7B3}"/>
              </a:ext>
            </a:extLst>
          </p:cNvPr>
          <p:cNvSpPr/>
          <p:nvPr/>
        </p:nvSpPr>
        <p:spPr>
          <a:xfrm>
            <a:off x="3413403" y="4481984"/>
            <a:ext cx="2667357" cy="134874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$1.5bn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/>
              <a:t>31-Mar-22 LTM Pro Forma Adjusted Revenue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F1A8FC-E595-5FAE-B94E-09A349DEBF53}"/>
              </a:ext>
            </a:extLst>
          </p:cNvPr>
          <p:cNvSpPr/>
          <p:nvPr/>
        </p:nvSpPr>
        <p:spPr>
          <a:xfrm>
            <a:off x="6316648" y="4481984"/>
            <a:ext cx="2667357" cy="134874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$320mm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/>
              <a:t>31-Mar-22 LTM Pro Forma Adjusted EBITDA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646858-B234-1786-17AD-783E6A2D9948}"/>
              </a:ext>
            </a:extLst>
          </p:cNvPr>
          <p:cNvSpPr txBox="1"/>
          <p:nvPr/>
        </p:nvSpPr>
        <p:spPr>
          <a:xfrm>
            <a:off x="129448" y="2804471"/>
            <a:ext cx="32258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Nationwide scale and local market density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Organic growth through capturing increasing referral volumes in existing markets and by expanding footprint though attractive ROIC de </a:t>
            </a:r>
            <a:r>
              <a:rPr lang="en-US" sz="1200" dirty="0" err="1">
                <a:solidFill>
                  <a:schemeClr val="bg2">
                    <a:lumMod val="75000"/>
                  </a:schemeClr>
                </a:solidFill>
              </a:rPr>
              <a:t>novos</a:t>
            </a:r>
            <a:endParaRPr lang="en-US" sz="1200" dirty="0">
              <a:solidFill>
                <a:schemeClr val="bg2">
                  <a:lumMod val="7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Track record of M&amp;A; completed 18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F60AAC4-08DD-1C00-707F-E4B8F92286E6}"/>
              </a:ext>
            </a:extLst>
          </p:cNvPr>
          <p:cNvCxnSpPr>
            <a:cxnSpLocks/>
          </p:cNvCxnSpPr>
          <p:nvPr/>
        </p:nvCxnSpPr>
        <p:spPr>
          <a:xfrm flipH="1">
            <a:off x="187523" y="4224662"/>
            <a:ext cx="297972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F4C3246-55D6-F418-1648-AADD4EFCDA0E}"/>
              </a:ext>
            </a:extLst>
          </p:cNvPr>
          <p:cNvSpPr txBox="1"/>
          <p:nvPr/>
        </p:nvSpPr>
        <p:spPr>
          <a:xfrm>
            <a:off x="129448" y="4259859"/>
            <a:ext cx="32258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Best-in-class patient experience and clinical quality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 through interdisciplinary teams: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Highly trained teams include a medical director, hospice nurse, hospice aide, social worker, chaplain, bereavement coordinator, and volunteers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05D56C-00D9-7B02-F38D-111CBAA5F420}"/>
              </a:ext>
            </a:extLst>
          </p:cNvPr>
          <p:cNvSpPr txBox="1"/>
          <p:nvPr/>
        </p:nvSpPr>
        <p:spPr>
          <a:xfrm>
            <a:off x="129449" y="6005616"/>
            <a:ext cx="8854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>
                    <a:lumMod val="75000"/>
                  </a:schemeClr>
                </a:solidFill>
              </a:rPr>
              <a:t>*The HIS Comprehensive Assessment at Admission (NQF #3235) captures, in a single measure, the proportion of patients for whom the hospice performed all seven care processes, as applicable, threshold of 90%</a:t>
            </a:r>
          </a:p>
          <a:p>
            <a:r>
              <a:rPr lang="en-US" sz="900" dirty="0">
                <a:solidFill>
                  <a:schemeClr val="bg2">
                    <a:lumMod val="75000"/>
                  </a:schemeClr>
                </a:solidFill>
              </a:rPr>
              <a:t>**Measures and assess the experiences of patients who died while receiving hospice care, as well as the experiences of their informal primary caregivers, essentially a satisfaction poll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Map&#10;&#10;Description automatically generated">
            <a:extLst>
              <a:ext uri="{FF2B5EF4-FFF2-40B4-BE49-F238E27FC236}">
                <a16:creationId xmlns:a16="http://schemas.microsoft.com/office/drawing/2014/main" id="{EE82FD37-7C3A-FDE8-5710-57E1ADEC5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900" y="3619951"/>
            <a:ext cx="3148134" cy="3119515"/>
          </a:xfrm>
          <a:prstGeom prst="rect">
            <a:avLst/>
          </a:prstGeom>
        </p:spPr>
      </p:pic>
      <p:sp>
        <p:nvSpPr>
          <p:cNvPr id="45" name="Google Shape;45;g13ce227f1db_0_12"/>
          <p:cNvSpPr txBox="1">
            <a:spLocks noGrp="1"/>
          </p:cNvSpPr>
          <p:nvPr>
            <p:ph type="title"/>
          </p:nvPr>
        </p:nvSpPr>
        <p:spPr>
          <a:xfrm>
            <a:off x="203233" y="315301"/>
            <a:ext cx="83358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9525" lvl="0" indent="0" algn="l" rtl="0"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2400" dirty="0">
                <a:latin typeface="Poppins"/>
                <a:ea typeface="Poppins"/>
                <a:cs typeface="Poppins"/>
                <a:sym typeface="Poppins"/>
              </a:rPr>
              <a:t>Financials and Comps</a:t>
            </a:r>
            <a:endParaRPr sz="24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" name="Google Shape;50;g13ce227f1db_0_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68313" y="6474832"/>
            <a:ext cx="175719" cy="17571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g13ce227f1db_0_12"/>
          <p:cNvSpPr txBox="1"/>
          <p:nvPr/>
        </p:nvSpPr>
        <p:spPr>
          <a:xfrm>
            <a:off x="8612417" y="6510939"/>
            <a:ext cx="397800" cy="1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fld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0E4049-CC6D-ED66-7F7D-5A121FD56D7F}"/>
              </a:ext>
            </a:extLst>
          </p:cNvPr>
          <p:cNvSpPr txBox="1"/>
          <p:nvPr/>
        </p:nvSpPr>
        <p:spPr>
          <a:xfrm>
            <a:off x="3862137" y="4572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21" name="Table 10">
            <a:extLst>
              <a:ext uri="{FF2B5EF4-FFF2-40B4-BE49-F238E27FC236}">
                <a16:creationId xmlns:a16="http://schemas.microsoft.com/office/drawing/2014/main" id="{6051CB66-F7B1-3D23-2125-18766AA00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558071"/>
              </p:ext>
            </p:extLst>
          </p:nvPr>
        </p:nvGraphicFramePr>
        <p:xfrm>
          <a:off x="1111262" y="978299"/>
          <a:ext cx="6921475" cy="2302180"/>
        </p:xfrm>
        <a:graphic>
          <a:graphicData uri="http://schemas.openxmlformats.org/drawingml/2006/table">
            <a:tbl>
              <a:tblPr firstRow="1" bandRow="1">
                <a:tableStyleId>{DD9D4CEC-4278-451B-9439-77C31D72A5FC}</a:tableStyleId>
              </a:tblPr>
              <a:tblGrid>
                <a:gridCol w="1384295">
                  <a:extLst>
                    <a:ext uri="{9D8B030D-6E8A-4147-A177-3AD203B41FA5}">
                      <a16:colId xmlns:a16="http://schemas.microsoft.com/office/drawing/2014/main" val="2902175240"/>
                    </a:ext>
                  </a:extLst>
                </a:gridCol>
                <a:gridCol w="1384295">
                  <a:extLst>
                    <a:ext uri="{9D8B030D-6E8A-4147-A177-3AD203B41FA5}">
                      <a16:colId xmlns:a16="http://schemas.microsoft.com/office/drawing/2014/main" val="177812425"/>
                    </a:ext>
                  </a:extLst>
                </a:gridCol>
                <a:gridCol w="1384295">
                  <a:extLst>
                    <a:ext uri="{9D8B030D-6E8A-4147-A177-3AD203B41FA5}">
                      <a16:colId xmlns:a16="http://schemas.microsoft.com/office/drawing/2014/main" val="73745081"/>
                    </a:ext>
                  </a:extLst>
                </a:gridCol>
                <a:gridCol w="1384295">
                  <a:extLst>
                    <a:ext uri="{9D8B030D-6E8A-4147-A177-3AD203B41FA5}">
                      <a16:colId xmlns:a16="http://schemas.microsoft.com/office/drawing/2014/main" val="2372031762"/>
                    </a:ext>
                  </a:extLst>
                </a:gridCol>
                <a:gridCol w="1384295">
                  <a:extLst>
                    <a:ext uri="{9D8B030D-6E8A-4147-A177-3AD203B41FA5}">
                      <a16:colId xmlns:a16="http://schemas.microsoft.com/office/drawing/2014/main" val="4108863893"/>
                    </a:ext>
                  </a:extLst>
                </a:gridCol>
              </a:tblGrid>
              <a:tr h="74411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LTM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KAH Hospice Company, Inc.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Amedisys, Inc.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latin typeface="+mn-lt"/>
                        </a:rPr>
                        <a:t>Addus</a:t>
                      </a:r>
                      <a:r>
                        <a:rPr lang="en-US" sz="1000" dirty="0">
                          <a:latin typeface="+mn-lt"/>
                        </a:rPr>
                        <a:t> Home 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LHC Group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796078"/>
                  </a:ext>
                </a:extLst>
              </a:tr>
              <a:tr h="3116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1,495.91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2,215.95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904.88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2,296.57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831425"/>
                  </a:ext>
                </a:extLst>
              </a:tr>
              <a:tr h="3116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EBITDA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320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232.70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97.06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210.63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407209"/>
                  </a:ext>
                </a:extLst>
              </a:tr>
              <a:tr h="34548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Total Debt/EBITDA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6.7x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2.41x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2.53x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4.14x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7401083"/>
                  </a:ext>
                </a:extLst>
              </a:tr>
              <a:tr h="34548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EBIT/Int. Expense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1.64x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11.87x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11.58x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10.17x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4743851"/>
                  </a:ext>
                </a:extLst>
              </a:tr>
              <a:tr h="21260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CFR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B/B3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0521711"/>
                  </a:ext>
                </a:extLst>
              </a:tr>
            </a:tbl>
          </a:graphicData>
        </a:graphic>
      </p:graphicFrame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F46C166-A1E8-2900-CA52-689414895EC9}"/>
              </a:ext>
            </a:extLst>
          </p:cNvPr>
          <p:cNvCxnSpPr>
            <a:cxnSpLocks/>
          </p:cNvCxnSpPr>
          <p:nvPr/>
        </p:nvCxnSpPr>
        <p:spPr>
          <a:xfrm>
            <a:off x="5102097" y="3556206"/>
            <a:ext cx="0" cy="319420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5A79D0DA-2953-7532-B14C-E0E5AAC038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880" y="3567155"/>
            <a:ext cx="4533880" cy="31723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9;g13ce227f1db_0_25">
            <a:extLst>
              <a:ext uri="{FF2B5EF4-FFF2-40B4-BE49-F238E27FC236}">
                <a16:creationId xmlns:a16="http://schemas.microsoft.com/office/drawing/2014/main" id="{B4392C77-F761-3A06-9418-01630F77AA91}"/>
              </a:ext>
            </a:extLst>
          </p:cNvPr>
          <p:cNvSpPr txBox="1">
            <a:spLocks/>
          </p:cNvSpPr>
          <p:nvPr/>
        </p:nvSpPr>
        <p:spPr>
          <a:xfrm>
            <a:off x="129448" y="321267"/>
            <a:ext cx="83358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525">
              <a:spcBef>
                <a:spcPts val="75"/>
              </a:spcBef>
            </a:pPr>
            <a:r>
              <a:rPr lang="en-US" dirty="0">
                <a:solidFill>
                  <a:schemeClr val="bg1"/>
                </a:solidFill>
              </a:rPr>
              <a:t>Transaction Overview</a:t>
            </a:r>
          </a:p>
        </p:txBody>
      </p:sp>
      <p:pic>
        <p:nvPicPr>
          <p:cNvPr id="8" name="Google Shape;66;g13ce227f1db_0_25">
            <a:extLst>
              <a:ext uri="{FF2B5EF4-FFF2-40B4-BE49-F238E27FC236}">
                <a16:creationId xmlns:a16="http://schemas.microsoft.com/office/drawing/2014/main" id="{E996EA46-D9DB-51A5-1FCC-C347E06A39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3993" y="6390608"/>
            <a:ext cx="175719" cy="17571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7;g13ce227f1db_0_25">
            <a:extLst>
              <a:ext uri="{FF2B5EF4-FFF2-40B4-BE49-F238E27FC236}">
                <a16:creationId xmlns:a16="http://schemas.microsoft.com/office/drawing/2014/main" id="{36E26475-E631-DF50-73AA-E9A58DCCA120}"/>
              </a:ext>
            </a:extLst>
          </p:cNvPr>
          <p:cNvSpPr txBox="1"/>
          <p:nvPr/>
        </p:nvSpPr>
        <p:spPr>
          <a:xfrm>
            <a:off x="8612417" y="6426715"/>
            <a:ext cx="397800" cy="1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0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4</a:t>
            </a:fld>
            <a:endParaRPr sz="1000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408D89-569F-AE75-E3D8-A30971A249FE}"/>
              </a:ext>
            </a:extLst>
          </p:cNvPr>
          <p:cNvSpPr txBox="1"/>
          <p:nvPr/>
        </p:nvSpPr>
        <p:spPr>
          <a:xfrm>
            <a:off x="129448" y="1010543"/>
            <a:ext cx="5238798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>
                    <a:lumMod val="75000"/>
                  </a:schemeClr>
                </a:solidFill>
              </a:rPr>
              <a:t>Borrowers: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</a:rPr>
              <a:t> Charlotte Buyer, Inc. (Parent Borrower) and </a:t>
            </a:r>
            <a:r>
              <a:rPr lang="en-US" sz="1100" dirty="0" err="1">
                <a:solidFill>
                  <a:schemeClr val="bg2">
                    <a:lumMod val="75000"/>
                  </a:schemeClr>
                </a:solidFill>
              </a:rPr>
              <a:t>Curo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</a:rPr>
              <a:t> Health Services, LLC (Subsidiary Borrower)</a:t>
            </a:r>
          </a:p>
          <a:p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</a:t>
            </a:r>
          </a:p>
          <a:p>
            <a:r>
              <a:rPr lang="en-US" sz="1100" b="1" dirty="0">
                <a:solidFill>
                  <a:schemeClr val="bg2">
                    <a:lumMod val="75000"/>
                  </a:schemeClr>
                </a:solidFill>
              </a:rPr>
              <a:t>Use of Proceeds: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</a:rPr>
              <a:t> Financing CDR purchase</a:t>
            </a:r>
            <a:endParaRPr lang="en-US" sz="1100" dirty="0">
              <a:solidFill>
                <a:srgbClr val="FF0000"/>
              </a:solidFill>
            </a:endParaRPr>
          </a:p>
          <a:p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</a:t>
            </a:r>
          </a:p>
          <a:p>
            <a:r>
              <a:rPr lang="en-US" sz="1100" b="1" dirty="0">
                <a:solidFill>
                  <a:schemeClr val="bg2">
                    <a:lumMod val="75000"/>
                  </a:schemeClr>
                </a:solidFill>
              </a:rPr>
              <a:t>Facilities: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</a:rPr>
              <a:t> TLB ($1,600mm) and Second Lien TL (450mm)</a:t>
            </a:r>
          </a:p>
          <a:p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</a:t>
            </a:r>
          </a:p>
          <a:p>
            <a:r>
              <a:rPr lang="en-US" sz="1100" b="1" dirty="0">
                <a:solidFill>
                  <a:schemeClr val="bg2">
                    <a:lumMod val="75000"/>
                  </a:schemeClr>
                </a:solidFill>
              </a:rPr>
              <a:t>Index Floor: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</a:rPr>
              <a:t> 0.50% (both)</a:t>
            </a:r>
          </a:p>
          <a:p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</a:t>
            </a:r>
          </a:p>
          <a:p>
            <a:r>
              <a:rPr lang="en-US" sz="1100" b="1" dirty="0">
                <a:solidFill>
                  <a:schemeClr val="bg2">
                    <a:lumMod val="75000"/>
                  </a:schemeClr>
                </a:solidFill>
              </a:rPr>
              <a:t>Negative Covenants: 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</a:rPr>
              <a:t>TLB (Usual), Second Lien (Dollar baskets 25% above the first lien term loan baskets)</a:t>
            </a:r>
          </a:p>
          <a:p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</a:t>
            </a:r>
          </a:p>
          <a:p>
            <a:r>
              <a:rPr lang="en-US" sz="1100" b="1" dirty="0">
                <a:solidFill>
                  <a:schemeClr val="bg2">
                    <a:lumMod val="75000"/>
                  </a:schemeClr>
                </a:solidFill>
              </a:rPr>
              <a:t>Maturity: 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</a:rPr>
              <a:t>TLB (5.5 years), Second Lien (6 years)</a:t>
            </a:r>
          </a:p>
          <a:p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</a:t>
            </a:r>
          </a:p>
          <a:p>
            <a:r>
              <a:rPr lang="en-US" sz="1100" b="1" dirty="0">
                <a:solidFill>
                  <a:schemeClr val="bg2">
                    <a:lumMod val="75000"/>
                  </a:schemeClr>
                </a:solidFill>
              </a:rPr>
              <a:t>Mandatory Amortization: 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</a:rPr>
              <a:t>TLB (1.00% per annum)</a:t>
            </a:r>
          </a:p>
          <a:p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</a:t>
            </a:r>
          </a:p>
          <a:p>
            <a:r>
              <a:rPr lang="en-US" sz="1100" b="1" dirty="0">
                <a:solidFill>
                  <a:schemeClr val="bg2">
                    <a:lumMod val="75000"/>
                  </a:schemeClr>
                </a:solidFill>
              </a:rPr>
              <a:t>Financial Covenants: 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</a:rPr>
              <a:t>None</a:t>
            </a:r>
          </a:p>
          <a:p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</a:t>
            </a:r>
          </a:p>
          <a:p>
            <a:r>
              <a:rPr lang="en-US" sz="1100" b="1" dirty="0">
                <a:solidFill>
                  <a:schemeClr val="bg2">
                    <a:lumMod val="75000"/>
                  </a:schemeClr>
                </a:solidFill>
              </a:rPr>
              <a:t>Mandatory Prepayments:  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</a:rPr>
              <a:t>100% of asset sale proceeds, stepping down with changing lien leverage coverage</a:t>
            </a:r>
            <a:endParaRPr lang="en-US" sz="1100" b="1" dirty="0">
              <a:solidFill>
                <a:srgbClr val="FF0000"/>
              </a:solidFill>
            </a:endParaRPr>
          </a:p>
          <a:p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</a:t>
            </a:r>
          </a:p>
          <a:p>
            <a:r>
              <a:rPr lang="en-US" sz="1100" b="1" dirty="0">
                <a:solidFill>
                  <a:schemeClr val="bg2">
                    <a:lumMod val="75000"/>
                  </a:schemeClr>
                </a:solidFill>
              </a:rPr>
              <a:t>Call Protection: 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</a:rPr>
              <a:t>TLB (101 6 month soft), Second Lien (102/101/Par, no carve-outs)</a:t>
            </a:r>
            <a:endParaRPr lang="en-US" sz="1100" dirty="0">
              <a:solidFill>
                <a:srgbClr val="FF0000"/>
              </a:solidFill>
            </a:endParaRPr>
          </a:p>
          <a:p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</a:t>
            </a:r>
          </a:p>
          <a:p>
            <a:r>
              <a:rPr lang="en-US" sz="1100" b="1" dirty="0">
                <a:solidFill>
                  <a:schemeClr val="bg2">
                    <a:lumMod val="75000"/>
                  </a:schemeClr>
                </a:solidFill>
              </a:rPr>
              <a:t>Overview: </a:t>
            </a:r>
          </a:p>
          <a:p>
            <a:r>
              <a:rPr lang="en-US" sz="1100" dirty="0"/>
              <a:t>	</a:t>
            </a:r>
            <a:r>
              <a:rPr lang="en-US" sz="1100" dirty="0">
                <a:solidFill>
                  <a:schemeClr val="bg2">
                    <a:lumMod val="75000"/>
                  </a:schemeClr>
                </a:solidFill>
              </a:rPr>
              <a:t>On April 21, 2022, Clayton, Dubilier &amp; Rice (“CD&amp;R” or the “Sponsor”) entered into a definitive agreement to acquire a majority interest in Red Unicorn at Home’s Hospice and Personal Care Divisions from Humana, Inc. (“Humana”), valuing the Company at $3.4 billion, or ~11x LTM 31-Mar-22 Pro Forma Adjusted EBITDA of $320 million</a:t>
            </a:r>
          </a:p>
          <a:p>
            <a:r>
              <a:rPr lang="en-US" sz="1100" dirty="0">
                <a:solidFill>
                  <a:schemeClr val="bg2">
                    <a:lumMod val="75000"/>
                  </a:schemeClr>
                </a:solidFill>
              </a:rPr>
              <a:t>	Growth-oriented partnership between Humana and CD&amp;R where both Humana and CD&amp;R will share 50 / 50 in upside once CD&amp;R has received a 3x return on its invested capital</a:t>
            </a:r>
          </a:p>
        </p:txBody>
      </p:sp>
      <p:pic>
        <p:nvPicPr>
          <p:cNvPr id="23" name="Picture 22" descr="Chart, bar chart&#10;&#10;Description automatically generated">
            <a:extLst>
              <a:ext uri="{FF2B5EF4-FFF2-40B4-BE49-F238E27FC236}">
                <a16:creationId xmlns:a16="http://schemas.microsoft.com/office/drawing/2014/main" id="{640CFD8C-B10A-4910-2816-9E817DEBE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232" y="4250690"/>
            <a:ext cx="3884087" cy="1279419"/>
          </a:xfrm>
          <a:prstGeom prst="rect">
            <a:avLst/>
          </a:prstGeom>
        </p:spPr>
      </p:pic>
      <p:pic>
        <p:nvPicPr>
          <p:cNvPr id="25" name="Picture 24" descr="Timeline&#10;&#10;Description automatically generated with medium confidence">
            <a:extLst>
              <a:ext uri="{FF2B5EF4-FFF2-40B4-BE49-F238E27FC236}">
                <a16:creationId xmlns:a16="http://schemas.microsoft.com/office/drawing/2014/main" id="{88A09044-3CFE-18AE-F69B-6EC4CDEFA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400" y="1409700"/>
            <a:ext cx="3884087" cy="24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7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 txBox="1">
            <a:spLocks noGrp="1"/>
          </p:cNvSpPr>
          <p:nvPr>
            <p:ph type="title"/>
          </p:nvPr>
        </p:nvSpPr>
        <p:spPr>
          <a:xfrm>
            <a:off x="232624" y="265639"/>
            <a:ext cx="8335689" cy="37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95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Current Credit Information</a:t>
            </a:r>
            <a:endParaRPr sz="2400" dirty="0"/>
          </a:p>
        </p:txBody>
      </p:sp>
      <p:sp>
        <p:nvSpPr>
          <p:cNvPr id="38" name="Google Shape;38;p2"/>
          <p:cNvSpPr txBox="1"/>
          <p:nvPr/>
        </p:nvSpPr>
        <p:spPr>
          <a:xfrm>
            <a:off x="8716688" y="6494895"/>
            <a:ext cx="112463" cy="149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</a:t>
            </a:fld>
            <a:endParaRPr sz="1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" name="Google Shape;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68313" y="6474832"/>
            <a:ext cx="175718" cy="1757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B9FC8D-6CD3-6200-968A-B99816C7BD0F}"/>
              </a:ext>
            </a:extLst>
          </p:cNvPr>
          <p:cNvSpPr txBox="1"/>
          <p:nvPr/>
        </p:nvSpPr>
        <p:spPr>
          <a:xfrm>
            <a:off x="502592" y="1284520"/>
            <a:ext cx="3389336" cy="584775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Amount: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$1,600mm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__________________________</a:t>
            </a:r>
          </a:p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Current Price: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93.3750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__________________________</a:t>
            </a:r>
          </a:p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Issue Price: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93.00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__________________________</a:t>
            </a:r>
          </a:p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Index + Margin: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S + 525 bps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__________________________</a:t>
            </a:r>
          </a:p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Index Floor: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0.50%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__________________________</a:t>
            </a:r>
          </a:p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Yield: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9.09%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__________________________</a:t>
            </a:r>
          </a:p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Maturity Date: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02/12/2028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__________________________</a:t>
            </a:r>
          </a:p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Rating: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B/B2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__________________________</a:t>
            </a:r>
          </a:p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Total Debt Outstanding: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$2,153mm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__________________________</a:t>
            </a:r>
          </a:p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Net Leverage: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Total: 6.7x</a:t>
            </a:r>
          </a:p>
          <a:p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52CF0A3-770A-0B41-3939-882898CC3609}"/>
              </a:ext>
            </a:extLst>
          </p:cNvPr>
          <p:cNvSpPr/>
          <p:nvPr/>
        </p:nvSpPr>
        <p:spPr>
          <a:xfrm>
            <a:off x="634672" y="945101"/>
            <a:ext cx="1985210" cy="3394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 Unicorn TLV</a:t>
            </a:r>
          </a:p>
        </p:txBody>
      </p:sp>
      <p:pic>
        <p:nvPicPr>
          <p:cNvPr id="8" name="Picture 7" descr="A picture containing bar chart&#10;&#10;Description automatically generated">
            <a:extLst>
              <a:ext uri="{FF2B5EF4-FFF2-40B4-BE49-F238E27FC236}">
                <a16:creationId xmlns:a16="http://schemas.microsoft.com/office/drawing/2014/main" id="{5E8C7090-6469-3BE1-1864-FD9BED1BD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931" y="833120"/>
            <a:ext cx="1943517" cy="3020444"/>
          </a:xfrm>
          <a:prstGeom prst="rect">
            <a:avLst/>
          </a:prstGeom>
        </p:spPr>
      </p:pic>
      <p:pic>
        <p:nvPicPr>
          <p:cNvPr id="13" name="Picture 12" descr="Bar chart&#10;&#10;Description automatically generated">
            <a:extLst>
              <a:ext uri="{FF2B5EF4-FFF2-40B4-BE49-F238E27FC236}">
                <a16:creationId xmlns:a16="http://schemas.microsoft.com/office/drawing/2014/main" id="{23A04B94-5253-AA3C-FE0A-C2CD04038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107" y="3859556"/>
            <a:ext cx="5579893" cy="262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385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9258C-E970-0235-0B44-A114762F1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379" y="254366"/>
            <a:ext cx="8335689" cy="369332"/>
          </a:xfrm>
        </p:spPr>
        <p:txBody>
          <a:bodyPr/>
          <a:lstStyle/>
          <a:p>
            <a:r>
              <a:rPr lang="en-US" dirty="0"/>
              <a:t>Credit Risks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52995DF-1BF8-A981-B795-DBA282DB5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032275"/>
              </p:ext>
            </p:extLst>
          </p:nvPr>
        </p:nvGraphicFramePr>
        <p:xfrm>
          <a:off x="338455" y="893075"/>
          <a:ext cx="8467089" cy="4302883"/>
        </p:xfrm>
        <a:graphic>
          <a:graphicData uri="http://schemas.openxmlformats.org/drawingml/2006/table">
            <a:tbl>
              <a:tblPr firstRow="1" bandRow="1">
                <a:tableStyleId>{DD9D4CEC-4278-451B-9439-77C31D72A5FC}</a:tableStyleId>
              </a:tblPr>
              <a:tblGrid>
                <a:gridCol w="2822363">
                  <a:extLst>
                    <a:ext uri="{9D8B030D-6E8A-4147-A177-3AD203B41FA5}">
                      <a16:colId xmlns:a16="http://schemas.microsoft.com/office/drawing/2014/main" val="1579061840"/>
                    </a:ext>
                  </a:extLst>
                </a:gridCol>
                <a:gridCol w="2822363">
                  <a:extLst>
                    <a:ext uri="{9D8B030D-6E8A-4147-A177-3AD203B41FA5}">
                      <a16:colId xmlns:a16="http://schemas.microsoft.com/office/drawing/2014/main" val="2561895474"/>
                    </a:ext>
                  </a:extLst>
                </a:gridCol>
                <a:gridCol w="2822363">
                  <a:extLst>
                    <a:ext uri="{9D8B030D-6E8A-4147-A177-3AD203B41FA5}">
                      <a16:colId xmlns:a16="http://schemas.microsoft.com/office/drawing/2014/main" val="1658650945"/>
                    </a:ext>
                  </a:extLst>
                </a:gridCol>
              </a:tblGrid>
              <a:tr h="4624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Credit Risks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Description of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Mitigants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1032832"/>
                  </a:ext>
                </a:extLst>
              </a:tr>
              <a:tr h="97813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High revenue concentration from Medicare, accounting for over 80% of total 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There will be a continued focus by the government on implementing measures to contain increasing health care costs, which may unfavorably impact future reimbursement rates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KAH Hospice's market position as one of the leading hospice providers in the 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787835"/>
                  </a:ext>
                </a:extLst>
              </a:tr>
              <a:tr h="97813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High initial Moody's adjusted debt-to-EBITDA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Total Debt/EBITDA: 6.7x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EBIT/Int. Expense: 1.64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Key strengths include KAH's decent scale, relatively strong margins, good liquidity, positive FCF generation, good geographic diversity, and a cost structure with limited fixed costs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098841"/>
                  </a:ext>
                </a:extLst>
              </a:tr>
              <a:tr h="115597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Presence of considerable competition in a highly fragmented industry, narrow focus on hospice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Annual turnover of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about 25%-30%, many different hospice companies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The hospice industry should benefit from favorable long-term growth prospects that are driven by aging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demographics and a growing awareness of the benefits of hospice service for patients experience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885351"/>
                  </a:ext>
                </a:extLst>
              </a:tr>
              <a:tr h="6224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Macro risks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Inflation, supply chain distributions, rising interest rates, recession risks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The company is well-diversified geographically with over 350 locations in 35 states, supported by government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582911"/>
                  </a:ext>
                </a:extLst>
              </a:tr>
            </a:tbl>
          </a:graphicData>
        </a:graphic>
      </p:graphicFrame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7C1DD2AE-96B3-53FB-F550-3A2561998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5289259"/>
            <a:ext cx="7772400" cy="156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876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WINS Report" id="{E46E17A6-4611-9A4A-B9E6-3103A7CB7D3D}" vid="{32C823A0-4F64-054D-B863-C374CF2AF0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0D0A227-5835-934A-99DF-C209AED0CF5E}">
  <we:reference id="e849ddb8-6bbd-4833-bd4b-59030099d63e" version="1.0.0.0" store="EXCatalog" storeType="EXCatalog"/>
  <we:alternateReferences>
    <we:reference id="WA200000113" version="1.0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15807</TotalTime>
  <Words>820</Words>
  <Application>Microsoft Macintosh PowerPoint</Application>
  <PresentationFormat>On-screen Show (4:3)</PresentationFormat>
  <Paragraphs>145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Arial</vt:lpstr>
      <vt:lpstr>Poppins</vt:lpstr>
      <vt:lpstr>Office Theme</vt:lpstr>
      <vt:lpstr>Project Red Unicorn September 2022</vt:lpstr>
      <vt:lpstr>Company Overview</vt:lpstr>
      <vt:lpstr>Financials and Comps</vt:lpstr>
      <vt:lpstr>PowerPoint Presentation</vt:lpstr>
      <vt:lpstr>Current Credit Information</vt:lpstr>
      <vt:lpstr>Credit Risks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KAH Hospice Company, Inc. Credit Report August 2022           </dc:title>
  <dc:creator>Jess West</dc:creator>
  <cp:lastModifiedBy>Federico Polacov</cp:lastModifiedBy>
  <cp:revision>51</cp:revision>
  <dcterms:created xsi:type="dcterms:W3CDTF">2022-08-18T16:58:33Z</dcterms:created>
  <dcterms:modified xsi:type="dcterms:W3CDTF">2026-03-10T02:12:13Z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2021-05-27T00:00:00Z</vt:filetime>
  </property>
  <property fmtid="{D5CDD505-2E9C-101B-9397-08002B2CF9AE}" pid="4" name="ContentTypeId">
    <vt:lpwstr>0x010100964333F8130EB84E83438EAA1B46A7DE</vt:lpwstr>
  </property>
</Properties>
</file>